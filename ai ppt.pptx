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3" r:id="rId5"/>
    <p:sldId id="25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9E6748-AAA5-458D-837D-FC630402772C}" v="9" dt="2025-11-02T10:24:17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munadevi Prakash" userId="f21123ad5fdb377f" providerId="LiveId" clId="{BAF1D863-E63D-4B59-999F-C3135276F919}"/>
    <pc:docChg chg="modSld">
      <pc:chgData name="Yamunadevi Prakash" userId="f21123ad5fdb377f" providerId="LiveId" clId="{BAF1D863-E63D-4B59-999F-C3135276F919}" dt="2025-11-02T10:24:17.903" v="77"/>
      <pc:docMkLst>
        <pc:docMk/>
      </pc:docMkLst>
      <pc:sldChg chg="modSp mod">
        <pc:chgData name="Yamunadevi Prakash" userId="f21123ad5fdb377f" providerId="LiveId" clId="{BAF1D863-E63D-4B59-999F-C3135276F919}" dt="2025-11-02T10:21:20.300" v="56" actId="20577"/>
        <pc:sldMkLst>
          <pc:docMk/>
          <pc:sldMk cId="519586359" sldId="258"/>
        </pc:sldMkLst>
        <pc:graphicFrameChg chg="mod modGraphic">
          <ac:chgData name="Yamunadevi Prakash" userId="f21123ad5fdb377f" providerId="LiveId" clId="{BAF1D863-E63D-4B59-999F-C3135276F919}" dt="2025-11-02T10:21:20.300" v="56" actId="20577"/>
          <ac:graphicFrameMkLst>
            <pc:docMk/>
            <pc:sldMk cId="519586359" sldId="258"/>
            <ac:graphicFrameMk id="7" creationId="{ACE64048-76D1-E559-97A6-1E9DA8CC9F64}"/>
          </ac:graphicFrameMkLst>
        </pc:graphicFrameChg>
      </pc:sldChg>
      <pc:sldChg chg="addSp delSp modSp mod">
        <pc:chgData name="Yamunadevi Prakash" userId="f21123ad5fdb377f" providerId="LiveId" clId="{BAF1D863-E63D-4B59-999F-C3135276F919}" dt="2025-11-02T10:22:49.171" v="69" actId="1076"/>
        <pc:sldMkLst>
          <pc:docMk/>
          <pc:sldMk cId="2805269521" sldId="260"/>
        </pc:sldMkLst>
        <pc:spChg chg="mod">
          <ac:chgData name="Yamunadevi Prakash" userId="f21123ad5fdb377f" providerId="LiveId" clId="{BAF1D863-E63D-4B59-999F-C3135276F919}" dt="2025-11-02T10:22:26.063" v="61" actId="1076"/>
          <ac:spMkLst>
            <pc:docMk/>
            <pc:sldMk cId="2805269521" sldId="260"/>
            <ac:spMk id="2" creationId="{1F358887-D4AD-6383-79D6-F528D34824D4}"/>
          </ac:spMkLst>
        </pc:spChg>
        <pc:spChg chg="del mod">
          <ac:chgData name="Yamunadevi Prakash" userId="f21123ad5fdb377f" providerId="LiveId" clId="{BAF1D863-E63D-4B59-999F-C3135276F919}" dt="2025-11-02T10:22:18.556" v="59" actId="931"/>
          <ac:spMkLst>
            <pc:docMk/>
            <pc:sldMk cId="2805269521" sldId="260"/>
            <ac:spMk id="3" creationId="{CB511744-1841-7314-5231-7CC4C07DDED0}"/>
          </ac:spMkLst>
        </pc:spChg>
        <pc:picChg chg="add mod">
          <ac:chgData name="Yamunadevi Prakash" userId="f21123ad5fdb377f" providerId="LiveId" clId="{BAF1D863-E63D-4B59-999F-C3135276F919}" dt="2025-11-02T10:22:45.461" v="68" actId="1076"/>
          <ac:picMkLst>
            <pc:docMk/>
            <pc:sldMk cId="2805269521" sldId="260"/>
            <ac:picMk id="7" creationId="{A8CFB949-54CF-F0C9-0387-0C4609166555}"/>
          </ac:picMkLst>
        </pc:picChg>
        <pc:picChg chg="add mod modCrop">
          <ac:chgData name="Yamunadevi Prakash" userId="f21123ad5fdb377f" providerId="LiveId" clId="{BAF1D863-E63D-4B59-999F-C3135276F919}" dt="2025-11-02T10:22:49.171" v="69" actId="1076"/>
          <ac:picMkLst>
            <pc:docMk/>
            <pc:sldMk cId="2805269521" sldId="260"/>
            <ac:picMk id="9" creationId="{70A84B22-25EF-E81E-19B1-4EA1D887FF7A}"/>
          </ac:picMkLst>
        </pc:picChg>
      </pc:sldChg>
      <pc:sldChg chg="modSp mod">
        <pc:chgData name="Yamunadevi Prakash" userId="f21123ad5fdb377f" providerId="LiveId" clId="{BAF1D863-E63D-4B59-999F-C3135276F919}" dt="2025-11-02T10:23:53.993" v="76" actId="5793"/>
        <pc:sldMkLst>
          <pc:docMk/>
          <pc:sldMk cId="1263363521" sldId="261"/>
        </pc:sldMkLst>
        <pc:spChg chg="mod">
          <ac:chgData name="Yamunadevi Prakash" userId="f21123ad5fdb377f" providerId="LiveId" clId="{BAF1D863-E63D-4B59-999F-C3135276F919}" dt="2025-11-02T10:23:53.993" v="76" actId="5793"/>
          <ac:spMkLst>
            <pc:docMk/>
            <pc:sldMk cId="1263363521" sldId="261"/>
            <ac:spMk id="3" creationId="{4B9409AF-1BD6-CFDC-B172-AD3D38536AC2}"/>
          </ac:spMkLst>
        </pc:spChg>
      </pc:sldChg>
      <pc:sldChg chg="modSp">
        <pc:chgData name="Yamunadevi Prakash" userId="f21123ad5fdb377f" providerId="LiveId" clId="{BAF1D863-E63D-4B59-999F-C3135276F919}" dt="2025-11-02T10:24:17.903" v="77"/>
        <pc:sldMkLst>
          <pc:docMk/>
          <pc:sldMk cId="752607158" sldId="262"/>
        </pc:sldMkLst>
        <pc:spChg chg="mod">
          <ac:chgData name="Yamunadevi Prakash" userId="f21123ad5fdb377f" providerId="LiveId" clId="{BAF1D863-E63D-4B59-999F-C3135276F919}" dt="2025-11-02T10:24:17.903" v="77"/>
          <ac:spMkLst>
            <pc:docMk/>
            <pc:sldMk cId="752607158" sldId="262"/>
            <ac:spMk id="3" creationId="{D3AB1971-AF7F-80EE-26ED-EA8A7E8C7C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Sudoku Solver as a CSP framed like a game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614036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2117240070366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Yamunadevi Prakash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11/2/2025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design and implement a </a:t>
            </a:r>
            <a:r>
              <a:rPr lang="en-US" b="1" dirty="0"/>
              <a:t>Sudoku Solver</a:t>
            </a:r>
            <a:r>
              <a:rPr lang="en-US" dirty="0"/>
              <a:t> in Python that models the puzzle as a </a:t>
            </a:r>
            <a:r>
              <a:rPr lang="en-US" b="1" dirty="0"/>
              <a:t>Constraint Satisfaction Problem (CSP)</a:t>
            </a:r>
            <a:r>
              <a:rPr lang="en-US" dirty="0"/>
              <a:t> and solves it efficiently using </a:t>
            </a:r>
            <a:r>
              <a:rPr lang="en-US" b="1" dirty="0"/>
              <a:t>backtracking search</a:t>
            </a:r>
            <a:r>
              <a:rPr lang="en-US" dirty="0"/>
              <a:t> combined with </a:t>
            </a:r>
            <a:r>
              <a:rPr lang="en-US" b="1" dirty="0"/>
              <a:t>constraint propagation</a:t>
            </a:r>
            <a:r>
              <a:rPr lang="en-US" dirty="0"/>
              <a:t> and </a:t>
            </a:r>
            <a:r>
              <a:rPr lang="en-US" b="1" dirty="0"/>
              <a:t>Minimum Remaining Value (MRV) heuristic</a:t>
            </a:r>
            <a:r>
              <a:rPr lang="en-US" dirty="0"/>
              <a:t>, while providing a simple interactive game-like interface.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6200" dirty="0"/>
              <a:t>A </a:t>
            </a:r>
            <a:r>
              <a:rPr lang="en-IN" sz="6200" b="1" dirty="0"/>
              <a:t>Constraint Satisfaction Problem (CSP)</a:t>
            </a:r>
            <a:r>
              <a:rPr lang="en-IN" sz="6200" dirty="0"/>
              <a:t> consists of:</a:t>
            </a:r>
          </a:p>
          <a:p>
            <a:pPr lvl="0"/>
            <a:r>
              <a:rPr lang="en-IN" sz="6200" b="1" dirty="0"/>
              <a:t>Variables:</a:t>
            </a:r>
            <a:r>
              <a:rPr lang="en-IN" sz="6200" dirty="0"/>
              <a:t> Each cell in the Sudoku grid (81 in total).</a:t>
            </a:r>
          </a:p>
          <a:p>
            <a:pPr lvl="0"/>
            <a:r>
              <a:rPr lang="en-IN" sz="6200" b="1" dirty="0"/>
              <a:t>Domains:</a:t>
            </a:r>
            <a:r>
              <a:rPr lang="en-IN" sz="6200" dirty="0"/>
              <a:t> Possible values {1,2,3,4,5,6,7,8,9}.</a:t>
            </a:r>
          </a:p>
          <a:p>
            <a:pPr lvl="0"/>
            <a:r>
              <a:rPr lang="en-IN" sz="6200" b="1" dirty="0"/>
              <a:t>Constraints:</a:t>
            </a:r>
            <a:r>
              <a:rPr lang="en-IN" sz="6200" dirty="0"/>
              <a:t> Each number must appear once per row, column, and </a:t>
            </a:r>
            <a:r>
              <a:rPr lang="en-IN" sz="6200" dirty="0" err="1"/>
              <a:t>subgrid</a:t>
            </a:r>
            <a:r>
              <a:rPr lang="en-IN" sz="6200" dirty="0"/>
              <a:t>.</a:t>
            </a:r>
          </a:p>
          <a:p>
            <a:pPr marL="0" lvl="0" indent="0">
              <a:buNone/>
            </a:pPr>
            <a:endParaRPr lang="en-IN" sz="6200" dirty="0"/>
          </a:p>
          <a:p>
            <a:pPr marL="0" indent="0">
              <a:buNone/>
            </a:pPr>
            <a:r>
              <a:rPr lang="en-IN" sz="6200" b="1" u="sng" dirty="0"/>
              <a:t>Algorithm Overview</a:t>
            </a:r>
            <a:endParaRPr lang="en-IN" sz="6200" u="sng" dirty="0"/>
          </a:p>
          <a:p>
            <a:pPr lvl="0"/>
            <a:r>
              <a:rPr lang="en-IN" sz="6200" b="1" dirty="0"/>
              <a:t>Backtracking Search:</a:t>
            </a:r>
            <a:br>
              <a:rPr lang="en-IN" sz="6200" dirty="0"/>
            </a:br>
            <a:r>
              <a:rPr lang="en-IN" sz="6200" dirty="0"/>
              <a:t>A depth-first search method that assigns values to variables one by one. If a violation occurs, it backtracks to try alternate assignments.</a:t>
            </a:r>
          </a:p>
          <a:p>
            <a:pPr lvl="0"/>
            <a:r>
              <a:rPr lang="en-IN" sz="6200" b="1" dirty="0"/>
              <a:t>Constraint Propagation:</a:t>
            </a:r>
            <a:br>
              <a:rPr lang="en-IN" sz="6200" dirty="0"/>
            </a:br>
            <a:r>
              <a:rPr lang="en-IN" sz="6200" dirty="0"/>
              <a:t>The domains of unassigned variables are reduced dynamically after each assignment, ensuring that no future assignments violate constraints.</a:t>
            </a:r>
          </a:p>
          <a:p>
            <a:pPr lvl="0"/>
            <a:r>
              <a:rPr lang="en-IN" sz="6200" b="1" dirty="0"/>
              <a:t>MRV Heuristic (Minimum Remaining Values):</a:t>
            </a:r>
            <a:br>
              <a:rPr lang="en-IN" sz="6200" dirty="0"/>
            </a:br>
            <a:r>
              <a:rPr lang="en-IN" sz="6200" dirty="0"/>
              <a:t>Chooses the variable with the smallest domain first, thereby reducing branching and improving efficiency.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5D21-0674-3A76-AF4E-DD802E11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8421-CC5E-EEAD-822A-F96E4F67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A9064-385A-59C6-1571-CADB019B7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6200" b="1" u="sng" dirty="0"/>
              <a:t>Literature Survey</a:t>
            </a:r>
          </a:p>
          <a:p>
            <a:pPr lvl="0"/>
            <a:r>
              <a:rPr lang="en-IN" sz="6200" dirty="0"/>
              <a:t>Russell &amp; Norvig, </a:t>
            </a:r>
            <a:r>
              <a:rPr lang="en-IN" sz="6200" i="1" dirty="0"/>
              <a:t>Artificial Intelligence: A Modern Approach</a:t>
            </a:r>
            <a:r>
              <a:rPr lang="en-IN" sz="6200" dirty="0"/>
              <a:t>, emphasize CSPs for structured logical problem solving.</a:t>
            </a:r>
          </a:p>
          <a:p>
            <a:pPr lvl="0"/>
            <a:r>
              <a:rPr lang="en-IN" sz="6200" dirty="0"/>
              <a:t>Dechter (2003) in </a:t>
            </a:r>
            <a:r>
              <a:rPr lang="en-IN" sz="6200" i="1" dirty="0"/>
              <a:t>Constraint Processing</a:t>
            </a:r>
            <a:r>
              <a:rPr lang="en-IN" sz="6200" dirty="0"/>
              <a:t> highlights efficiency improvements from heuristics like MRV and forward checking.</a:t>
            </a:r>
          </a:p>
          <a:p>
            <a:pPr lvl="0"/>
            <a:r>
              <a:rPr lang="en-IN" sz="6200" dirty="0"/>
              <a:t>Other methods (e.g., genetic algorithms, simulated annealing) exist but CSPs remain the most interpretable and consistent for Sudoku.</a:t>
            </a:r>
          </a:p>
          <a:p>
            <a:pPr marL="0" lvl="0" indent="0">
              <a:buNone/>
            </a:pPr>
            <a:endParaRPr lang="en-IN" sz="6200" dirty="0"/>
          </a:p>
          <a:p>
            <a:pPr marL="0" indent="0">
              <a:buNone/>
            </a:pPr>
            <a:r>
              <a:rPr lang="en-IN" sz="6200" b="1" u="sng" dirty="0"/>
              <a:t>Justification for Choosing CSP</a:t>
            </a:r>
            <a:endParaRPr lang="en-IN" sz="6200" u="sng" dirty="0"/>
          </a:p>
          <a:p>
            <a:r>
              <a:rPr lang="en-IN" sz="6200" dirty="0"/>
              <a:t>Sudoku fits naturally as a CSP because all constraints are explicit and deterministic. CSP solvers handle such structured constraints more efficiently than heuristic search or brute force methods.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5EBFC-A6F9-936D-5944-EA9149D3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18741-892B-CDA1-D5D5-B13310AE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68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908442"/>
              </p:ext>
            </p:extLst>
          </p:nvPr>
        </p:nvGraphicFramePr>
        <p:xfrm>
          <a:off x="1854200" y="2205222"/>
          <a:ext cx="8128000" cy="2286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https://github.com/YamunadeviPrakash/Sudoku-Solver/main.py.git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https://github.com/YamunadeviPrakash/Sudoku-Solver/ai-report-yamuna.git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https://github.com/YamunadeviPrakash/Sudoku-Solver/ai-ppt.git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9684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8CFB949-54CF-F0C9-0387-0C46091665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349" y="1335684"/>
            <a:ext cx="3809589" cy="49101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A84B22-25EF-E81E-19B1-4EA1D887F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63"/>
          <a:stretch>
            <a:fillRect/>
          </a:stretch>
        </p:blipFill>
        <p:spPr>
          <a:xfrm>
            <a:off x="1547936" y="996557"/>
            <a:ext cx="3549875" cy="586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CSP-based approach successfully solves Sudoku puzzles with efficiency and clarity. The MRV heuristic and constraint propagation reduce backtracking and make the algorithm intelligent and systematic.</a:t>
            </a:r>
          </a:p>
          <a:p>
            <a:pPr marL="0" indent="0">
              <a:buNone/>
            </a:pPr>
            <a:r>
              <a:rPr lang="en-IN" b="1" u="sng" dirty="0"/>
              <a:t>Future Enhancements:</a:t>
            </a:r>
            <a:endParaRPr lang="en-IN" u="sng" dirty="0"/>
          </a:p>
          <a:p>
            <a:pPr lvl="0"/>
            <a:r>
              <a:rPr lang="en-IN" dirty="0"/>
              <a:t>Add </a:t>
            </a:r>
            <a:r>
              <a:rPr lang="en-IN" b="1" dirty="0"/>
              <a:t>graphical user interface (GUI)</a:t>
            </a:r>
            <a:r>
              <a:rPr lang="en-IN" dirty="0"/>
              <a:t> using </a:t>
            </a:r>
            <a:r>
              <a:rPr lang="en-IN" dirty="0" err="1"/>
              <a:t>Tkinter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Implement </a:t>
            </a:r>
            <a:r>
              <a:rPr lang="en-IN" b="1" dirty="0"/>
              <a:t>forward checking</a:t>
            </a:r>
            <a:r>
              <a:rPr lang="en-IN" dirty="0"/>
              <a:t> for deeper propagation.</a:t>
            </a:r>
          </a:p>
          <a:p>
            <a:pPr lvl="0"/>
            <a:r>
              <a:rPr lang="en-IN" dirty="0"/>
              <a:t>Add random Sudoku puzzle generation and difficulty levels.</a:t>
            </a:r>
          </a:p>
          <a:p>
            <a:pPr lvl="0"/>
            <a:r>
              <a:rPr lang="en-IN" dirty="0"/>
              <a:t>Integrate timing and performance statistics for educational insight.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lvl="0"/>
            <a:r>
              <a:rPr lang="en-IN" dirty="0"/>
              <a:t>Russell, S. J., &amp; Norvig, P. (2020). </a:t>
            </a:r>
            <a:r>
              <a:rPr lang="en-IN" i="1" dirty="0"/>
              <a:t>Artificial Intelligence: A Modern Approach</a:t>
            </a:r>
            <a:r>
              <a:rPr lang="en-IN" dirty="0"/>
              <a:t> (4th Ed.). Pearson.</a:t>
            </a:r>
          </a:p>
          <a:p>
            <a:pPr lvl="0"/>
            <a:r>
              <a:rPr lang="en-IN" dirty="0"/>
              <a:t>Dechter, R. (2003). </a:t>
            </a:r>
            <a:r>
              <a:rPr lang="en-IN" i="1" dirty="0"/>
              <a:t>Constraint Processing</a:t>
            </a:r>
            <a:r>
              <a:rPr lang="en-IN" dirty="0"/>
              <a:t>. Morgan Kaufmann.</a:t>
            </a:r>
          </a:p>
          <a:p>
            <a:pPr lvl="0"/>
            <a:r>
              <a:rPr lang="en-IN" dirty="0"/>
              <a:t>Apt, K. R. (2003). </a:t>
            </a:r>
            <a:r>
              <a:rPr lang="en-IN" i="1" dirty="0"/>
              <a:t>Principles of Constraint Programming</a:t>
            </a:r>
            <a:r>
              <a:rPr lang="en-IN" dirty="0"/>
              <a:t>. Cambridge University Press.</a:t>
            </a:r>
          </a:p>
          <a:p>
            <a:pPr lvl="0"/>
            <a:r>
              <a:rPr lang="en-IN" dirty="0"/>
              <a:t>Towards Data Science Blog – “Solving Sudoku with CSP and Backtracking in Python.”</a:t>
            </a:r>
          </a:p>
          <a:p>
            <a:pPr lvl="0"/>
            <a:r>
              <a:rPr lang="en-IN" dirty="0" err="1"/>
              <a:t>GeeksforGeeks</a:t>
            </a:r>
            <a:r>
              <a:rPr lang="en-IN"/>
              <a:t> – “Sudoku Solver using Backtracking Algorithm.”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566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DEPARTMENT OF ARTIFICIAL INTELLIGENCE AND DATA SCIENCE ACADEMIC YEAR 2025 - 2026 SEMESTER III ARTIFICIAL INTELLIGENCE LABORATORY  MINI PROJECT REVIEW   Sudoku Solver as a CSP framed like a game</vt:lpstr>
      <vt:lpstr>PROBLEM STATEMENT</vt:lpstr>
      <vt:lpstr>THEORETICAL BACKGROUND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Yamunadevi Prakash</cp:lastModifiedBy>
  <cp:revision>5</cp:revision>
  <dcterms:created xsi:type="dcterms:W3CDTF">2025-10-18T08:57:34Z</dcterms:created>
  <dcterms:modified xsi:type="dcterms:W3CDTF">2025-11-02T10:24:26Z</dcterms:modified>
</cp:coreProperties>
</file>